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2539"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sz="3600" b="0" i="0">
                <a:solidFill>
                  <a:srgbClr val="127621"/>
                </a:solidFill>
                <a:latin typeface="Calibri"/>
                <a:cs typeface="Calibri"/>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2762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27621"/>
                </a:solidFill>
                <a:latin typeface="Calibri"/>
                <a:cs typeface="Calibri"/>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2762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960370" y="1194434"/>
            <a:ext cx="1859279" cy="574039"/>
          </a:xfrm>
          <a:prstGeom prst="rect">
            <a:avLst/>
          </a:prstGeom>
        </p:spPr>
        <p:txBody>
          <a:bodyPr wrap="square" lIns="0" tIns="0" rIns="0" bIns="0">
            <a:spAutoFit/>
          </a:bodyPr>
          <a:lstStyle>
            <a:lvl1pPr>
              <a:defRPr sz="3600" b="0" i="0">
                <a:solidFill>
                  <a:srgbClr val="127621"/>
                </a:solidFill>
                <a:latin typeface="Calibri"/>
                <a:cs typeface="Calibri"/>
              </a:defRPr>
            </a:lvl1pPr>
          </a:lstStyle>
          <a:p>
            <a:endParaRPr/>
          </a:p>
        </p:txBody>
      </p:sp>
      <p:sp>
        <p:nvSpPr>
          <p:cNvPr id="3" name="Holder 3"/>
          <p:cNvSpPr>
            <a:spLocks noGrp="1"/>
          </p:cNvSpPr>
          <p:nvPr>
            <p:ph type="body" idx="1"/>
          </p:nvPr>
        </p:nvSpPr>
        <p:spPr>
          <a:xfrm>
            <a:off x="698817" y="1696931"/>
            <a:ext cx="6303009" cy="62414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7/15/2026</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124200" y="1065721"/>
            <a:ext cx="1752600" cy="566822"/>
          </a:xfrm>
          <a:prstGeom prst="rect">
            <a:avLst/>
          </a:prstGeom>
        </p:spPr>
        <p:txBody>
          <a:bodyPr vert="horz" wrap="square" lIns="0" tIns="12700" rIns="0" bIns="0" rtlCol="0">
            <a:spAutoFit/>
          </a:bodyPr>
          <a:lstStyle/>
          <a:p>
            <a:pPr marL="12700">
              <a:lnSpc>
                <a:spcPct val="100000"/>
              </a:lnSpc>
              <a:spcBef>
                <a:spcPts val="100"/>
              </a:spcBef>
            </a:pPr>
            <a:r>
              <a:rPr lang="en-IN" dirty="0" err="1"/>
              <a:t>EcoAI</a:t>
            </a:r>
            <a:endParaRPr spc="-10" dirty="0"/>
          </a:p>
        </p:txBody>
      </p:sp>
      <p:sp>
        <p:nvSpPr>
          <p:cNvPr id="3" name="object 3"/>
          <p:cNvSpPr txBox="1"/>
          <p:nvPr/>
        </p:nvSpPr>
        <p:spPr>
          <a:xfrm>
            <a:off x="698817" y="1696931"/>
            <a:ext cx="6303010" cy="6231962"/>
          </a:xfrm>
          <a:prstGeom prst="rect">
            <a:avLst/>
          </a:prstGeom>
        </p:spPr>
        <p:txBody>
          <a:bodyPr vert="horz" wrap="square" lIns="0" tIns="125730" rIns="0" bIns="0" rtlCol="0">
            <a:spAutoFit/>
          </a:bodyPr>
          <a:lstStyle/>
          <a:p>
            <a:pPr marL="12700">
              <a:lnSpc>
                <a:spcPct val="100000"/>
              </a:lnSpc>
              <a:spcBef>
                <a:spcPts val="990"/>
              </a:spcBef>
            </a:pPr>
            <a:r>
              <a:rPr sz="1400" b="1" dirty="0">
                <a:solidFill>
                  <a:srgbClr val="127621"/>
                </a:solidFill>
                <a:latin typeface="Calibri"/>
                <a:cs typeface="Calibri"/>
              </a:rPr>
              <a:t>Problem</a:t>
            </a:r>
            <a:r>
              <a:rPr sz="1400" b="1" spc="-45" dirty="0">
                <a:solidFill>
                  <a:srgbClr val="127621"/>
                </a:solidFill>
                <a:latin typeface="Calibri"/>
                <a:cs typeface="Calibri"/>
              </a:rPr>
              <a:t> </a:t>
            </a:r>
            <a:r>
              <a:rPr sz="1400" b="1" spc="-10" dirty="0">
                <a:solidFill>
                  <a:srgbClr val="127621"/>
                </a:solidFill>
                <a:latin typeface="Calibri"/>
                <a:cs typeface="Calibri"/>
              </a:rPr>
              <a:t>Statement</a:t>
            </a:r>
            <a:endParaRPr sz="1400" dirty="0">
              <a:latin typeface="Calibri"/>
              <a:cs typeface="Calibri"/>
            </a:endParaRPr>
          </a:p>
          <a:p>
            <a:pPr marL="28575" marR="151130" indent="-6350">
              <a:lnSpc>
                <a:spcPct val="107100"/>
              </a:lnSpc>
              <a:spcBef>
                <a:spcPts val="580"/>
              </a:spcBef>
            </a:pPr>
            <a:r>
              <a:rPr lang="en-IN" sz="1050" dirty="0"/>
              <a:t>The increasing global demand for electricity, combined with climate change and dependence on fossil fuels, has created the need for efficient renewable energy management. Traditional methods of predicting renewable energy generation are often inaccurate due to changing weather conditions and complex environmental factors. There is a need for an intelligent system capable of accurately forecasting renewable energy production while promoting sustainable development.</a:t>
            </a:r>
          </a:p>
          <a:p>
            <a:pPr marL="28575" marR="151130" indent="-6350">
              <a:lnSpc>
                <a:spcPct val="107100"/>
              </a:lnSpc>
              <a:spcBef>
                <a:spcPts val="580"/>
              </a:spcBef>
            </a:pPr>
            <a:endParaRPr sz="1050" dirty="0">
              <a:latin typeface="Times New Roman"/>
              <a:cs typeface="Times New Roman"/>
            </a:endParaRPr>
          </a:p>
          <a:p>
            <a:pPr marL="31750">
              <a:lnSpc>
                <a:spcPct val="100000"/>
              </a:lnSpc>
            </a:pPr>
            <a:r>
              <a:rPr sz="1400" b="1" spc="-10" dirty="0">
                <a:solidFill>
                  <a:srgbClr val="127621"/>
                </a:solidFill>
                <a:latin typeface="Calibri"/>
                <a:cs typeface="Calibri"/>
              </a:rPr>
              <a:t>Project</a:t>
            </a:r>
            <a:r>
              <a:rPr sz="1400" b="1" spc="-35" dirty="0">
                <a:solidFill>
                  <a:srgbClr val="127621"/>
                </a:solidFill>
                <a:latin typeface="Calibri"/>
                <a:cs typeface="Calibri"/>
              </a:rPr>
              <a:t> </a:t>
            </a:r>
            <a:r>
              <a:rPr sz="1400" b="1" spc="-10" dirty="0">
                <a:solidFill>
                  <a:srgbClr val="127621"/>
                </a:solidFill>
                <a:latin typeface="Calibri"/>
                <a:cs typeface="Calibri"/>
              </a:rPr>
              <a:t>Overview</a:t>
            </a:r>
            <a:endParaRPr lang="en-IN" sz="1400" b="1" spc="-10" dirty="0">
              <a:solidFill>
                <a:srgbClr val="127621"/>
              </a:solidFill>
              <a:latin typeface="Calibri"/>
              <a:cs typeface="Calibri"/>
            </a:endParaRPr>
          </a:p>
          <a:p>
            <a:pPr marL="31750">
              <a:lnSpc>
                <a:spcPct val="100000"/>
              </a:lnSpc>
            </a:pPr>
            <a:endParaRPr sz="1400" dirty="0">
              <a:latin typeface="Calibri"/>
              <a:cs typeface="Calibri"/>
            </a:endParaRPr>
          </a:p>
          <a:p>
            <a:pPr marL="28575" marR="5080" indent="-6350">
              <a:lnSpc>
                <a:spcPct val="105200"/>
              </a:lnSpc>
            </a:pPr>
            <a:r>
              <a:rPr lang="en-IN" sz="1050" dirty="0" err="1"/>
              <a:t>EcoAI</a:t>
            </a:r>
            <a:r>
              <a:rPr lang="en-IN" sz="1050" dirty="0"/>
              <a:t> is an AI-powered sustainable energy analytics platform that predicts renewable energy generation using Machine Learning techniques. The project </a:t>
            </a:r>
            <a:r>
              <a:rPr lang="en-IN" sz="1050" dirty="0" err="1"/>
              <a:t>analyzes</a:t>
            </a:r>
            <a:r>
              <a:rPr lang="en-IN" sz="1050" dirty="0"/>
              <a:t> historical energy and environmental datasets, performs data preprocessing, visualization, feature engineering, and predictive </a:t>
            </a:r>
            <a:r>
              <a:rPr lang="en-IN" sz="1050" dirty="0" err="1"/>
              <a:t>modeling</a:t>
            </a:r>
            <a:r>
              <a:rPr lang="en-IN" sz="1050" dirty="0"/>
              <a:t> to estimate future renewable energy production. The system enables better energy planning, optimized resource utilization, and supports environmentally sustainable decision-making</a:t>
            </a:r>
          </a:p>
          <a:p>
            <a:pPr marL="28575" marR="5080" indent="-6350">
              <a:lnSpc>
                <a:spcPct val="105200"/>
              </a:lnSpc>
            </a:pPr>
            <a:r>
              <a:rPr lang="en-IN" sz="1050" dirty="0"/>
              <a:t>.</a:t>
            </a:r>
            <a:endParaRPr sz="1050" dirty="0">
              <a:latin typeface="Times New Roman"/>
              <a:cs typeface="Times New Roman"/>
            </a:endParaRPr>
          </a:p>
          <a:p>
            <a:pPr marL="12700">
              <a:lnSpc>
                <a:spcPct val="100000"/>
              </a:lnSpc>
            </a:pPr>
            <a:r>
              <a:rPr sz="1400" b="1" dirty="0">
                <a:solidFill>
                  <a:srgbClr val="127621"/>
                </a:solidFill>
                <a:latin typeface="Calibri"/>
                <a:cs typeface="Calibri"/>
              </a:rPr>
              <a:t>Solution</a:t>
            </a:r>
            <a:r>
              <a:rPr sz="1400" b="1" spc="-65" dirty="0">
                <a:solidFill>
                  <a:srgbClr val="127621"/>
                </a:solidFill>
                <a:latin typeface="Calibri"/>
                <a:cs typeface="Calibri"/>
              </a:rPr>
              <a:t> </a:t>
            </a:r>
            <a:r>
              <a:rPr sz="1400" b="1" spc="-10" dirty="0">
                <a:solidFill>
                  <a:srgbClr val="127621"/>
                </a:solidFill>
                <a:latin typeface="Calibri"/>
                <a:cs typeface="Calibri"/>
              </a:rPr>
              <a:t>Offered</a:t>
            </a:r>
            <a:endParaRPr lang="en-IN" sz="1400" b="1" spc="-10" dirty="0">
              <a:solidFill>
                <a:srgbClr val="127621"/>
              </a:solidFill>
              <a:latin typeface="Calibri"/>
              <a:cs typeface="Calibri"/>
            </a:endParaRPr>
          </a:p>
          <a:p>
            <a:pPr marL="12700">
              <a:lnSpc>
                <a:spcPct val="100000"/>
              </a:lnSpc>
            </a:pPr>
            <a:endParaRPr sz="1400" dirty="0">
              <a:latin typeface="Calibri"/>
              <a:cs typeface="Calibri"/>
            </a:endParaRPr>
          </a:p>
          <a:p>
            <a:pPr marL="22225">
              <a:lnSpc>
                <a:spcPct val="100000"/>
              </a:lnSpc>
            </a:pPr>
            <a:r>
              <a:rPr lang="en-IN" sz="1050" dirty="0"/>
              <a:t>The proposed solution integrates data preprocessing, exploratory data analysis, machine learning model training, prediction, and performance evaluation into a single workflow. The model identifies important environmental factors affecting renewable energy generation and provides accurate predictions to assist energy providers, researchers, and policymakers.</a:t>
            </a:r>
          </a:p>
          <a:p>
            <a:pPr marL="22225">
              <a:lnSpc>
                <a:spcPct val="100000"/>
              </a:lnSpc>
            </a:pPr>
            <a:endParaRPr lang="en-IN" sz="1050" b="1" dirty="0">
              <a:solidFill>
                <a:srgbClr val="127621"/>
              </a:solidFill>
              <a:latin typeface="Calibri"/>
              <a:cs typeface="Calibri"/>
            </a:endParaRPr>
          </a:p>
          <a:p>
            <a:pPr marL="22225">
              <a:lnSpc>
                <a:spcPct val="100000"/>
              </a:lnSpc>
            </a:pPr>
            <a:endParaRPr lang="en-IN" sz="1050" b="1" dirty="0">
              <a:solidFill>
                <a:srgbClr val="127621"/>
              </a:solidFill>
              <a:latin typeface="Calibri"/>
              <a:cs typeface="Calibri"/>
            </a:endParaRPr>
          </a:p>
          <a:p>
            <a:pPr marL="22225">
              <a:lnSpc>
                <a:spcPct val="100000"/>
              </a:lnSpc>
            </a:pPr>
            <a:endParaRPr lang="en-IN" sz="1050" b="1" dirty="0">
              <a:solidFill>
                <a:srgbClr val="127621"/>
              </a:solidFill>
              <a:latin typeface="Calibri"/>
              <a:cs typeface="Calibri"/>
            </a:endParaRPr>
          </a:p>
          <a:p>
            <a:pPr marL="22225">
              <a:lnSpc>
                <a:spcPct val="100000"/>
              </a:lnSpc>
            </a:pPr>
            <a:r>
              <a:rPr sz="1400" b="1" dirty="0">
                <a:solidFill>
                  <a:srgbClr val="127621"/>
                </a:solidFill>
                <a:latin typeface="Calibri"/>
                <a:cs typeface="Calibri"/>
              </a:rPr>
              <a:t>Who</a:t>
            </a:r>
            <a:r>
              <a:rPr sz="1400" b="1" spc="-20" dirty="0">
                <a:solidFill>
                  <a:srgbClr val="127621"/>
                </a:solidFill>
                <a:latin typeface="Calibri"/>
                <a:cs typeface="Calibri"/>
              </a:rPr>
              <a:t> </a:t>
            </a:r>
            <a:r>
              <a:rPr sz="1400" b="1" dirty="0">
                <a:solidFill>
                  <a:srgbClr val="127621"/>
                </a:solidFill>
                <a:latin typeface="Calibri"/>
                <a:cs typeface="Calibri"/>
              </a:rPr>
              <a:t>Are</a:t>
            </a:r>
            <a:r>
              <a:rPr sz="1400" b="1" spc="-15" dirty="0">
                <a:solidFill>
                  <a:srgbClr val="127621"/>
                </a:solidFill>
                <a:latin typeface="Calibri"/>
                <a:cs typeface="Calibri"/>
              </a:rPr>
              <a:t> </a:t>
            </a:r>
            <a:r>
              <a:rPr sz="1400" b="1" dirty="0">
                <a:solidFill>
                  <a:srgbClr val="127621"/>
                </a:solidFill>
                <a:latin typeface="Calibri"/>
                <a:cs typeface="Calibri"/>
              </a:rPr>
              <a:t>The</a:t>
            </a:r>
            <a:r>
              <a:rPr sz="1400" b="1" spc="-20" dirty="0">
                <a:solidFill>
                  <a:srgbClr val="127621"/>
                </a:solidFill>
                <a:latin typeface="Calibri"/>
                <a:cs typeface="Calibri"/>
              </a:rPr>
              <a:t> </a:t>
            </a:r>
            <a:r>
              <a:rPr sz="1400" b="1" dirty="0">
                <a:solidFill>
                  <a:srgbClr val="127621"/>
                </a:solidFill>
                <a:latin typeface="Calibri"/>
                <a:cs typeface="Calibri"/>
              </a:rPr>
              <a:t>End</a:t>
            </a:r>
            <a:r>
              <a:rPr sz="1400" b="1" spc="-15" dirty="0">
                <a:solidFill>
                  <a:srgbClr val="127621"/>
                </a:solidFill>
                <a:latin typeface="Calibri"/>
                <a:cs typeface="Calibri"/>
              </a:rPr>
              <a:t> </a:t>
            </a:r>
            <a:r>
              <a:rPr sz="1400" b="1" spc="-10" dirty="0">
                <a:solidFill>
                  <a:srgbClr val="127621"/>
                </a:solidFill>
                <a:latin typeface="Calibri"/>
                <a:cs typeface="Calibri"/>
              </a:rPr>
              <a:t>Users?</a:t>
            </a:r>
            <a:endParaRPr sz="1400" dirty="0">
              <a:latin typeface="Calibri"/>
              <a:cs typeface="Calibri"/>
            </a:endParaRPr>
          </a:p>
          <a:p>
            <a:pPr marL="469900" indent="-228600">
              <a:lnSpc>
                <a:spcPct val="100000"/>
              </a:lnSpc>
              <a:spcBef>
                <a:spcPts val="675"/>
              </a:spcBef>
              <a:buFont typeface="Calibri"/>
              <a:buChar char="•"/>
              <a:tabLst>
                <a:tab pos="469900" algn="l"/>
              </a:tabLst>
            </a:pPr>
            <a:r>
              <a:rPr lang="en-IN" sz="1050" dirty="0"/>
              <a:t>Renewable Energy Companies </a:t>
            </a:r>
          </a:p>
          <a:p>
            <a:pPr marL="469900" indent="-228600">
              <a:lnSpc>
                <a:spcPct val="100000"/>
              </a:lnSpc>
              <a:spcBef>
                <a:spcPts val="675"/>
              </a:spcBef>
              <a:buFont typeface="Calibri"/>
              <a:buChar char="•"/>
              <a:tabLst>
                <a:tab pos="469900" algn="l"/>
              </a:tabLst>
            </a:pPr>
            <a:r>
              <a:rPr lang="en-IN" sz="1050" dirty="0"/>
              <a:t>Government Energy Departments</a:t>
            </a:r>
          </a:p>
          <a:p>
            <a:pPr marL="469900" indent="-228600">
              <a:lnSpc>
                <a:spcPct val="100000"/>
              </a:lnSpc>
              <a:spcBef>
                <a:spcPts val="675"/>
              </a:spcBef>
              <a:buFont typeface="Calibri"/>
              <a:buChar char="•"/>
              <a:tabLst>
                <a:tab pos="469900" algn="l"/>
              </a:tabLst>
            </a:pPr>
            <a:r>
              <a:rPr lang="en-IN" sz="1050" dirty="0"/>
              <a:t> Environmental Researchers</a:t>
            </a:r>
          </a:p>
          <a:p>
            <a:pPr marL="469900" indent="-228600">
              <a:lnSpc>
                <a:spcPct val="100000"/>
              </a:lnSpc>
              <a:spcBef>
                <a:spcPts val="675"/>
              </a:spcBef>
              <a:buFont typeface="Calibri"/>
              <a:buChar char="•"/>
              <a:tabLst>
                <a:tab pos="469900" algn="l"/>
              </a:tabLst>
            </a:pPr>
            <a:r>
              <a:rPr lang="en-IN" sz="1050" dirty="0"/>
              <a:t> Smart Grid Operators</a:t>
            </a:r>
          </a:p>
          <a:p>
            <a:pPr marL="469900" indent="-228600">
              <a:lnSpc>
                <a:spcPct val="100000"/>
              </a:lnSpc>
              <a:spcBef>
                <a:spcPts val="675"/>
              </a:spcBef>
              <a:buFont typeface="Calibri"/>
              <a:buChar char="•"/>
              <a:tabLst>
                <a:tab pos="469900" algn="l"/>
              </a:tabLst>
            </a:pPr>
            <a:endParaRPr sz="1050" dirty="0">
              <a:latin typeface="Times New Roman"/>
              <a:cs typeface="Times New Roman"/>
            </a:endParaRPr>
          </a:p>
          <a:p>
            <a:pPr marL="12700">
              <a:lnSpc>
                <a:spcPct val="100000"/>
              </a:lnSpc>
            </a:pPr>
            <a:r>
              <a:rPr sz="1400" b="1" spc="-10" dirty="0">
                <a:solidFill>
                  <a:srgbClr val="127621"/>
                </a:solidFill>
                <a:latin typeface="Calibri"/>
                <a:cs typeface="Calibri"/>
              </a:rPr>
              <a:t>Technology</a:t>
            </a:r>
            <a:r>
              <a:rPr sz="1400" b="1" spc="-20" dirty="0">
                <a:solidFill>
                  <a:srgbClr val="127621"/>
                </a:solidFill>
                <a:latin typeface="Calibri"/>
                <a:cs typeface="Calibri"/>
              </a:rPr>
              <a:t> </a:t>
            </a:r>
            <a:r>
              <a:rPr sz="1400" b="1" dirty="0">
                <a:solidFill>
                  <a:srgbClr val="127621"/>
                </a:solidFill>
                <a:latin typeface="Calibri"/>
                <a:cs typeface="Calibri"/>
              </a:rPr>
              <a:t>Used</a:t>
            </a:r>
            <a:r>
              <a:rPr sz="1400" b="1" spc="-30" dirty="0">
                <a:solidFill>
                  <a:srgbClr val="127621"/>
                </a:solidFill>
                <a:latin typeface="Calibri"/>
                <a:cs typeface="Calibri"/>
              </a:rPr>
              <a:t> </a:t>
            </a:r>
            <a:r>
              <a:rPr sz="1400" b="1" spc="-50" dirty="0">
                <a:solidFill>
                  <a:srgbClr val="127621"/>
                </a:solidFill>
                <a:latin typeface="Calibri"/>
                <a:cs typeface="Calibri"/>
              </a:rPr>
              <a:t>To</a:t>
            </a:r>
            <a:r>
              <a:rPr sz="1400" b="1" spc="-25" dirty="0">
                <a:solidFill>
                  <a:srgbClr val="127621"/>
                </a:solidFill>
                <a:latin typeface="Calibri"/>
                <a:cs typeface="Calibri"/>
              </a:rPr>
              <a:t> </a:t>
            </a:r>
            <a:r>
              <a:rPr sz="1400" b="1" dirty="0">
                <a:solidFill>
                  <a:srgbClr val="127621"/>
                </a:solidFill>
                <a:latin typeface="Calibri"/>
                <a:cs typeface="Calibri"/>
              </a:rPr>
              <a:t>Solve</a:t>
            </a:r>
            <a:r>
              <a:rPr sz="1400" b="1" spc="-30" dirty="0">
                <a:solidFill>
                  <a:srgbClr val="127621"/>
                </a:solidFill>
                <a:latin typeface="Calibri"/>
                <a:cs typeface="Calibri"/>
              </a:rPr>
              <a:t> </a:t>
            </a:r>
            <a:r>
              <a:rPr sz="1400" b="1" dirty="0">
                <a:solidFill>
                  <a:srgbClr val="127621"/>
                </a:solidFill>
                <a:latin typeface="Calibri"/>
                <a:cs typeface="Calibri"/>
              </a:rPr>
              <a:t>The</a:t>
            </a:r>
            <a:r>
              <a:rPr sz="1400" b="1" spc="-55" dirty="0">
                <a:solidFill>
                  <a:srgbClr val="127621"/>
                </a:solidFill>
                <a:latin typeface="Calibri"/>
                <a:cs typeface="Calibri"/>
              </a:rPr>
              <a:t> </a:t>
            </a:r>
            <a:r>
              <a:rPr sz="1400" b="1" spc="-10" dirty="0">
                <a:solidFill>
                  <a:srgbClr val="127621"/>
                </a:solidFill>
                <a:latin typeface="Calibri"/>
                <a:cs typeface="Calibri"/>
              </a:rPr>
              <a:t>Problem</a:t>
            </a:r>
            <a:endParaRPr sz="1400" dirty="0">
              <a:latin typeface="Calibri"/>
              <a:cs typeface="Calibri"/>
            </a:endParaRPr>
          </a:p>
        </p:txBody>
      </p:sp>
      <p:pic>
        <p:nvPicPr>
          <p:cNvPr id="9" name="object 9"/>
          <p:cNvPicPr/>
          <p:nvPr/>
        </p:nvPicPr>
        <p:blipFill>
          <a:blip r:embed="rId2" cstate="print"/>
          <a:stretch>
            <a:fillRect/>
          </a:stretch>
        </p:blipFill>
        <p:spPr>
          <a:xfrm>
            <a:off x="1059193" y="419000"/>
            <a:ext cx="1496890" cy="483594"/>
          </a:xfrm>
          <a:prstGeom prst="rect">
            <a:avLst/>
          </a:prstGeom>
        </p:spPr>
      </p:pic>
      <p:sp>
        <p:nvSpPr>
          <p:cNvPr id="10" name="object 10"/>
          <p:cNvSpPr/>
          <p:nvPr/>
        </p:nvSpPr>
        <p:spPr>
          <a:xfrm>
            <a:off x="711200" y="3401948"/>
            <a:ext cx="6369050" cy="57150"/>
          </a:xfrm>
          <a:custGeom>
            <a:avLst/>
            <a:gdLst/>
            <a:ahLst/>
            <a:cxnLst/>
            <a:rect l="l" t="t" r="r" b="b"/>
            <a:pathLst>
              <a:path w="6369050" h="57150">
                <a:moveTo>
                  <a:pt x="6369050" y="0"/>
                </a:moveTo>
                <a:lnTo>
                  <a:pt x="0" y="0"/>
                </a:lnTo>
                <a:lnTo>
                  <a:pt x="0" y="57150"/>
                </a:lnTo>
                <a:lnTo>
                  <a:pt x="6369050" y="57150"/>
                </a:lnTo>
                <a:lnTo>
                  <a:pt x="6369050" y="0"/>
                </a:lnTo>
                <a:close/>
              </a:path>
            </a:pathLst>
          </a:custGeom>
          <a:solidFill>
            <a:srgbClr val="FFFF00"/>
          </a:solidFill>
        </p:spPr>
        <p:txBody>
          <a:bodyPr wrap="square" lIns="0" tIns="0" rIns="0" bIns="0" rtlCol="0"/>
          <a:lstStyle/>
          <a:p>
            <a:endParaRPr/>
          </a:p>
        </p:txBody>
      </p:sp>
      <p:sp>
        <p:nvSpPr>
          <p:cNvPr id="11" name="object 11"/>
          <p:cNvSpPr/>
          <p:nvPr/>
        </p:nvSpPr>
        <p:spPr>
          <a:xfrm>
            <a:off x="711200" y="4896358"/>
            <a:ext cx="6369050" cy="57150"/>
          </a:xfrm>
          <a:custGeom>
            <a:avLst/>
            <a:gdLst/>
            <a:ahLst/>
            <a:cxnLst/>
            <a:rect l="l" t="t" r="r" b="b"/>
            <a:pathLst>
              <a:path w="6369050" h="57150">
                <a:moveTo>
                  <a:pt x="6369050" y="0"/>
                </a:moveTo>
                <a:lnTo>
                  <a:pt x="0" y="0"/>
                </a:lnTo>
                <a:lnTo>
                  <a:pt x="0" y="57150"/>
                </a:lnTo>
                <a:lnTo>
                  <a:pt x="6369050" y="57150"/>
                </a:lnTo>
                <a:lnTo>
                  <a:pt x="6369050" y="0"/>
                </a:lnTo>
                <a:close/>
              </a:path>
            </a:pathLst>
          </a:custGeom>
          <a:solidFill>
            <a:srgbClr val="FFFF00"/>
          </a:solidFill>
        </p:spPr>
        <p:txBody>
          <a:bodyPr wrap="square" lIns="0" tIns="0" rIns="0" bIns="0" rtlCol="0"/>
          <a:lstStyle/>
          <a:p>
            <a:endParaRPr/>
          </a:p>
        </p:txBody>
      </p:sp>
      <p:sp>
        <p:nvSpPr>
          <p:cNvPr id="12" name="object 12"/>
          <p:cNvSpPr/>
          <p:nvPr/>
        </p:nvSpPr>
        <p:spPr>
          <a:xfrm>
            <a:off x="711834" y="2041905"/>
            <a:ext cx="6369050" cy="57150"/>
          </a:xfrm>
          <a:custGeom>
            <a:avLst/>
            <a:gdLst/>
            <a:ahLst/>
            <a:cxnLst/>
            <a:rect l="l" t="t" r="r" b="b"/>
            <a:pathLst>
              <a:path w="6369050" h="57150">
                <a:moveTo>
                  <a:pt x="6369049" y="0"/>
                </a:moveTo>
                <a:lnTo>
                  <a:pt x="0" y="0"/>
                </a:lnTo>
                <a:lnTo>
                  <a:pt x="0" y="57150"/>
                </a:lnTo>
                <a:lnTo>
                  <a:pt x="6369049" y="57150"/>
                </a:lnTo>
                <a:lnTo>
                  <a:pt x="6369049" y="0"/>
                </a:lnTo>
                <a:close/>
              </a:path>
            </a:pathLst>
          </a:custGeom>
          <a:solidFill>
            <a:srgbClr val="FFFF00"/>
          </a:solidFill>
        </p:spPr>
        <p:txBody>
          <a:bodyPr wrap="square" lIns="0" tIns="0" rIns="0" bIns="0" rtlCol="0"/>
          <a:lstStyle/>
          <a:p>
            <a:endParaRPr/>
          </a:p>
        </p:txBody>
      </p:sp>
      <p:sp>
        <p:nvSpPr>
          <p:cNvPr id="13" name="object 13"/>
          <p:cNvSpPr/>
          <p:nvPr/>
        </p:nvSpPr>
        <p:spPr>
          <a:xfrm>
            <a:off x="711834" y="6407022"/>
            <a:ext cx="6369050" cy="57150"/>
          </a:xfrm>
          <a:custGeom>
            <a:avLst/>
            <a:gdLst/>
            <a:ahLst/>
            <a:cxnLst/>
            <a:rect l="l" t="t" r="r" b="b"/>
            <a:pathLst>
              <a:path w="6369050" h="57150">
                <a:moveTo>
                  <a:pt x="6369049" y="0"/>
                </a:moveTo>
                <a:lnTo>
                  <a:pt x="0" y="0"/>
                </a:lnTo>
                <a:lnTo>
                  <a:pt x="0" y="57150"/>
                </a:lnTo>
                <a:lnTo>
                  <a:pt x="6369049" y="57150"/>
                </a:lnTo>
                <a:lnTo>
                  <a:pt x="6369049" y="0"/>
                </a:lnTo>
                <a:close/>
              </a:path>
            </a:pathLst>
          </a:custGeom>
          <a:solidFill>
            <a:srgbClr val="FFFF00"/>
          </a:solidFill>
        </p:spPr>
        <p:txBody>
          <a:bodyPr wrap="square" lIns="0" tIns="0" rIns="0" bIns="0" rtlCol="0"/>
          <a:lstStyle/>
          <a:p>
            <a:endParaRPr/>
          </a:p>
        </p:txBody>
      </p:sp>
      <p:sp>
        <p:nvSpPr>
          <p:cNvPr id="14" name="object 14"/>
          <p:cNvSpPr/>
          <p:nvPr/>
        </p:nvSpPr>
        <p:spPr>
          <a:xfrm>
            <a:off x="665797" y="8044230"/>
            <a:ext cx="6369050" cy="57150"/>
          </a:xfrm>
          <a:custGeom>
            <a:avLst/>
            <a:gdLst/>
            <a:ahLst/>
            <a:cxnLst/>
            <a:rect l="l" t="t" r="r" b="b"/>
            <a:pathLst>
              <a:path w="6369050" h="57150">
                <a:moveTo>
                  <a:pt x="6369049" y="0"/>
                </a:moveTo>
                <a:lnTo>
                  <a:pt x="0" y="0"/>
                </a:lnTo>
                <a:lnTo>
                  <a:pt x="0" y="57149"/>
                </a:lnTo>
                <a:lnTo>
                  <a:pt x="6369049" y="57149"/>
                </a:lnTo>
                <a:lnTo>
                  <a:pt x="6369049" y="0"/>
                </a:lnTo>
                <a:close/>
              </a:path>
            </a:pathLst>
          </a:custGeom>
          <a:solidFill>
            <a:srgbClr val="FFFF00"/>
          </a:solidFill>
        </p:spPr>
        <p:txBody>
          <a:bodyPr wrap="square" lIns="0" tIns="0" rIns="0" bIns="0" rtlCol="0"/>
          <a:lstStyle/>
          <a:p>
            <a:endParaRPr/>
          </a:p>
        </p:txBody>
      </p:sp>
      <p:sp>
        <p:nvSpPr>
          <p:cNvPr id="16" name="TextBox 15">
            <a:extLst>
              <a:ext uri="{FF2B5EF4-FFF2-40B4-BE49-F238E27FC236}">
                <a16:creationId xmlns:a16="http://schemas.microsoft.com/office/drawing/2014/main" id="{3733C6F1-6ACB-774D-EDEC-D631D1B62C13}"/>
              </a:ext>
            </a:extLst>
          </p:cNvPr>
          <p:cNvSpPr txBox="1"/>
          <p:nvPr/>
        </p:nvSpPr>
        <p:spPr>
          <a:xfrm>
            <a:off x="672730" y="8273867"/>
            <a:ext cx="6369050" cy="1384995"/>
          </a:xfrm>
          <a:prstGeom prst="rect">
            <a:avLst/>
          </a:prstGeom>
          <a:noFill/>
        </p:spPr>
        <p:txBody>
          <a:bodyPr wrap="square" rtlCol="0">
            <a:spAutoFit/>
          </a:bodyPr>
          <a:lstStyle/>
          <a:p>
            <a:pPr marL="171450" indent="-171450">
              <a:buFontTx/>
              <a:buChar char="-"/>
            </a:pPr>
            <a:r>
              <a:rPr lang="en-IN" sz="1050" dirty="0"/>
              <a:t>Python </a:t>
            </a:r>
          </a:p>
          <a:p>
            <a:pPr marL="171450" indent="-171450">
              <a:buFontTx/>
              <a:buChar char="-"/>
            </a:pPr>
            <a:r>
              <a:rPr lang="en-IN" sz="1050" dirty="0"/>
              <a:t>Jupyter Notebook </a:t>
            </a:r>
          </a:p>
          <a:p>
            <a:pPr marL="171450" indent="-171450">
              <a:buFontTx/>
              <a:buChar char="-"/>
            </a:pPr>
            <a:r>
              <a:rPr lang="en-IN" sz="1050" dirty="0"/>
              <a:t>Pandas </a:t>
            </a:r>
          </a:p>
          <a:p>
            <a:pPr marL="171450" indent="-171450">
              <a:buFontTx/>
              <a:buChar char="-"/>
            </a:pPr>
            <a:r>
              <a:rPr lang="en-IN" sz="1050" dirty="0"/>
              <a:t>NumPy </a:t>
            </a:r>
          </a:p>
          <a:p>
            <a:pPr marL="171450" indent="-171450">
              <a:buFontTx/>
              <a:buChar char="-"/>
            </a:pPr>
            <a:r>
              <a:rPr lang="en-IN" sz="1050" dirty="0"/>
              <a:t>Matplotlib </a:t>
            </a:r>
          </a:p>
          <a:p>
            <a:pPr marL="171450" indent="-171450">
              <a:buFontTx/>
              <a:buChar char="-"/>
            </a:pPr>
            <a:r>
              <a:rPr lang="en-IN" sz="1050" dirty="0"/>
              <a:t>Seaborn </a:t>
            </a:r>
          </a:p>
          <a:p>
            <a:pPr marL="171450" indent="-171450">
              <a:buFontTx/>
              <a:buChar char="-"/>
            </a:pPr>
            <a:r>
              <a:rPr lang="en-IN" sz="1050" dirty="0"/>
              <a:t>Scikit-learn </a:t>
            </a:r>
          </a:p>
          <a:p>
            <a:pPr marL="171450" indent="-171450">
              <a:buFontTx/>
              <a:buChar char="-"/>
            </a:pPr>
            <a:r>
              <a:rPr lang="en-IN" sz="1050" dirty="0"/>
              <a:t>Machine Learning Algorithms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TotalTime>
  <Words>223</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Calibri</vt:lpstr>
      <vt:lpstr>Times New Roman</vt:lpstr>
      <vt:lpstr>Office Theme</vt:lpstr>
      <vt:lpstr>EcoAI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Dulari Bhatt</dc:creator>
  <cp:lastModifiedBy>Charmin Patel</cp:lastModifiedBy>
  <cp:revision>1</cp:revision>
  <dcterms:created xsi:type="dcterms:W3CDTF">2026-07-15T15:45:14Z</dcterms:created>
  <dcterms:modified xsi:type="dcterms:W3CDTF">2026-07-15T15:59:03Z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2026-07-14T00:00:00Z</vt:filetime>
  </property>
  <property fmtid="{D5CDD505-2E9C-101B-9397-08002B2CF9AE}" pid="4" name="Creator">
    <vt:lpwstr>Microsoft Word</vt:lpwstr>
  </property>
  <property fmtid="{D5CDD505-2E9C-101B-9397-08002B2CF9AE}" pid="5" name="LastSaved">
    <vt:filetime>2026-07-15T00:00:00Z</vt:filetime>
  </property>
</Properties>
</file>