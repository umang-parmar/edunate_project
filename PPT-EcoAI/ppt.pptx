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9" r:id="rId11"/>
    <p:sldId id="270" r:id="rId12"/>
    <p:sldId id="271" r:id="rId13"/>
    <p:sldId id="265" r:id="rId14"/>
    <p:sldId id="266" r:id="rId15"/>
    <p:sldId id="267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4F81A-4B0D-4552-952B-728C7EDE692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F1733-4292-415A-8C17-1FC3A5AB6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17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GitHub Link:-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1733-4292-415A-8C17-1FC3A5AB60D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5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41335" y="137882"/>
            <a:ext cx="1658222" cy="46041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0"/>
            <a:ext cx="9829800" cy="718185"/>
          </a:xfrm>
          <a:custGeom>
            <a:avLst/>
            <a:gdLst/>
            <a:ahLst/>
            <a:cxnLst/>
            <a:rect l="l" t="t" r="r" b="b"/>
            <a:pathLst>
              <a:path w="9829800" h="718185">
                <a:moveTo>
                  <a:pt x="9829800" y="0"/>
                </a:moveTo>
                <a:lnTo>
                  <a:pt x="0" y="0"/>
                </a:lnTo>
                <a:lnTo>
                  <a:pt x="0" y="717626"/>
                </a:lnTo>
                <a:lnTo>
                  <a:pt x="9829800" y="717626"/>
                </a:lnTo>
                <a:lnTo>
                  <a:pt x="9829800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0"/>
            <a:ext cx="9829800" cy="718185"/>
          </a:xfrm>
          <a:custGeom>
            <a:avLst/>
            <a:gdLst/>
            <a:ahLst/>
            <a:cxnLst/>
            <a:rect l="l" t="t" r="r" b="b"/>
            <a:pathLst>
              <a:path w="9829800" h="718185">
                <a:moveTo>
                  <a:pt x="0" y="717626"/>
                </a:moveTo>
                <a:lnTo>
                  <a:pt x="9829800" y="717626"/>
                </a:lnTo>
                <a:lnTo>
                  <a:pt x="9829800" y="0"/>
                </a:lnTo>
                <a:lnTo>
                  <a:pt x="0" y="0"/>
                </a:lnTo>
                <a:lnTo>
                  <a:pt x="0" y="717626"/>
                </a:lnTo>
                <a:close/>
              </a:path>
            </a:pathLst>
          </a:custGeom>
          <a:ln w="25400">
            <a:solidFill>
              <a:srgbClr val="20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888981" y="-457"/>
            <a:ext cx="112395" cy="732790"/>
          </a:xfrm>
          <a:custGeom>
            <a:avLst/>
            <a:gdLst/>
            <a:ahLst/>
            <a:cxnLst/>
            <a:rect l="l" t="t" r="r" b="b"/>
            <a:pathLst>
              <a:path w="112395" h="732790">
                <a:moveTo>
                  <a:pt x="112283" y="0"/>
                </a:moveTo>
                <a:lnTo>
                  <a:pt x="0" y="0"/>
                </a:lnTo>
                <a:lnTo>
                  <a:pt x="0" y="732358"/>
                </a:lnTo>
                <a:lnTo>
                  <a:pt x="112283" y="732358"/>
                </a:lnTo>
                <a:lnTo>
                  <a:pt x="112283" y="0"/>
                </a:lnTo>
                <a:close/>
              </a:path>
            </a:pathLst>
          </a:custGeom>
          <a:solidFill>
            <a:srgbClr val="7E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8"/>
            <a:ext cx="9839324" cy="72373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925300" y="-457"/>
            <a:ext cx="266700" cy="732790"/>
          </a:xfrm>
          <a:custGeom>
            <a:avLst/>
            <a:gdLst/>
            <a:ahLst/>
            <a:cxnLst/>
            <a:rect l="l" t="t" r="r" b="b"/>
            <a:pathLst>
              <a:path w="266700" h="732790">
                <a:moveTo>
                  <a:pt x="266700" y="0"/>
                </a:moveTo>
                <a:lnTo>
                  <a:pt x="0" y="0"/>
                </a:lnTo>
                <a:lnTo>
                  <a:pt x="0" y="732358"/>
                </a:lnTo>
                <a:lnTo>
                  <a:pt x="266700" y="732358"/>
                </a:lnTo>
                <a:lnTo>
                  <a:pt x="266700" y="0"/>
                </a:lnTo>
                <a:close/>
              </a:path>
            </a:pathLst>
          </a:custGeom>
          <a:solidFill>
            <a:srgbClr val="F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822" y="944626"/>
            <a:ext cx="4947285" cy="384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A person sitting at a desk with a computer  Description automatically generated"/>
          <p:cNvGrpSpPr/>
          <p:nvPr/>
        </p:nvGrpSpPr>
        <p:grpSpPr>
          <a:xfrm>
            <a:off x="0" y="-634"/>
            <a:ext cx="12192000" cy="6858634"/>
            <a:chOff x="0" y="-457"/>
            <a:chExt cx="12192000" cy="6858634"/>
          </a:xfrm>
        </p:grpSpPr>
        <p:pic>
          <p:nvPicPr>
            <p:cNvPr id="3" name="object 3" descr="A person sitting at a desk with a compute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687561" y="584199"/>
              <a:ext cx="2110740" cy="977900"/>
            </a:xfrm>
            <a:custGeom>
              <a:avLst/>
              <a:gdLst/>
              <a:ahLst/>
              <a:cxnLst/>
              <a:rect l="l" t="t" r="r" b="b"/>
              <a:pathLst>
                <a:path w="2110740" h="977900">
                  <a:moveTo>
                    <a:pt x="1947418" y="0"/>
                  </a:moveTo>
                  <a:lnTo>
                    <a:pt x="162941" y="0"/>
                  </a:lnTo>
                  <a:lnTo>
                    <a:pt x="119606" y="5825"/>
                  </a:lnTo>
                  <a:lnTo>
                    <a:pt x="80677" y="22262"/>
                  </a:lnTo>
                  <a:lnTo>
                    <a:pt x="47704" y="47752"/>
                  </a:lnTo>
                  <a:lnTo>
                    <a:pt x="22234" y="80734"/>
                  </a:lnTo>
                  <a:lnTo>
                    <a:pt x="5816" y="119650"/>
                  </a:lnTo>
                  <a:lnTo>
                    <a:pt x="0" y="162940"/>
                  </a:lnTo>
                  <a:lnTo>
                    <a:pt x="0" y="814959"/>
                  </a:lnTo>
                  <a:lnTo>
                    <a:pt x="5816" y="858249"/>
                  </a:lnTo>
                  <a:lnTo>
                    <a:pt x="22234" y="897165"/>
                  </a:lnTo>
                  <a:lnTo>
                    <a:pt x="47704" y="930148"/>
                  </a:lnTo>
                  <a:lnTo>
                    <a:pt x="80677" y="955637"/>
                  </a:lnTo>
                  <a:lnTo>
                    <a:pt x="119606" y="972074"/>
                  </a:lnTo>
                  <a:lnTo>
                    <a:pt x="162941" y="977900"/>
                  </a:lnTo>
                  <a:lnTo>
                    <a:pt x="1947418" y="977900"/>
                  </a:lnTo>
                  <a:lnTo>
                    <a:pt x="1990762" y="972074"/>
                  </a:lnTo>
                  <a:lnTo>
                    <a:pt x="2029714" y="955637"/>
                  </a:lnTo>
                  <a:lnTo>
                    <a:pt x="2062718" y="930147"/>
                  </a:lnTo>
                  <a:lnTo>
                    <a:pt x="2088218" y="897165"/>
                  </a:lnTo>
                  <a:lnTo>
                    <a:pt x="2104659" y="858249"/>
                  </a:lnTo>
                  <a:lnTo>
                    <a:pt x="2110486" y="814959"/>
                  </a:lnTo>
                  <a:lnTo>
                    <a:pt x="2110486" y="162940"/>
                  </a:lnTo>
                  <a:lnTo>
                    <a:pt x="2104659" y="119650"/>
                  </a:lnTo>
                  <a:lnTo>
                    <a:pt x="2088218" y="80734"/>
                  </a:lnTo>
                  <a:lnTo>
                    <a:pt x="2062718" y="47751"/>
                  </a:lnTo>
                  <a:lnTo>
                    <a:pt x="2029714" y="22262"/>
                  </a:lnTo>
                  <a:lnTo>
                    <a:pt x="1990762" y="5825"/>
                  </a:lnTo>
                  <a:lnTo>
                    <a:pt x="1947418" y="0"/>
                  </a:lnTo>
                  <a:close/>
                </a:path>
              </a:pathLst>
            </a:custGeom>
            <a:solidFill>
              <a:srgbClr val="EBE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87561" y="584199"/>
              <a:ext cx="2110740" cy="977900"/>
            </a:xfrm>
            <a:custGeom>
              <a:avLst/>
              <a:gdLst/>
              <a:ahLst/>
              <a:cxnLst/>
              <a:rect l="l" t="t" r="r" b="b"/>
              <a:pathLst>
                <a:path w="2110740" h="977900">
                  <a:moveTo>
                    <a:pt x="0" y="162940"/>
                  </a:moveTo>
                  <a:lnTo>
                    <a:pt x="5816" y="119650"/>
                  </a:lnTo>
                  <a:lnTo>
                    <a:pt x="22234" y="80734"/>
                  </a:lnTo>
                  <a:lnTo>
                    <a:pt x="47704" y="47752"/>
                  </a:lnTo>
                  <a:lnTo>
                    <a:pt x="80677" y="22262"/>
                  </a:lnTo>
                  <a:lnTo>
                    <a:pt x="119606" y="5825"/>
                  </a:lnTo>
                  <a:lnTo>
                    <a:pt x="162941" y="0"/>
                  </a:lnTo>
                  <a:lnTo>
                    <a:pt x="1947418" y="0"/>
                  </a:lnTo>
                  <a:lnTo>
                    <a:pt x="1990762" y="5825"/>
                  </a:lnTo>
                  <a:lnTo>
                    <a:pt x="2029714" y="22262"/>
                  </a:lnTo>
                  <a:lnTo>
                    <a:pt x="2062718" y="47751"/>
                  </a:lnTo>
                  <a:lnTo>
                    <a:pt x="2088218" y="80734"/>
                  </a:lnTo>
                  <a:lnTo>
                    <a:pt x="2104659" y="119650"/>
                  </a:lnTo>
                  <a:lnTo>
                    <a:pt x="2110486" y="162940"/>
                  </a:lnTo>
                  <a:lnTo>
                    <a:pt x="2110486" y="814959"/>
                  </a:lnTo>
                  <a:lnTo>
                    <a:pt x="2104659" y="858249"/>
                  </a:lnTo>
                  <a:lnTo>
                    <a:pt x="2088218" y="897165"/>
                  </a:lnTo>
                  <a:lnTo>
                    <a:pt x="2062718" y="930147"/>
                  </a:lnTo>
                  <a:lnTo>
                    <a:pt x="2029714" y="955637"/>
                  </a:lnTo>
                  <a:lnTo>
                    <a:pt x="1990762" y="972074"/>
                  </a:lnTo>
                  <a:lnTo>
                    <a:pt x="1947418" y="977900"/>
                  </a:lnTo>
                  <a:lnTo>
                    <a:pt x="162941" y="977900"/>
                  </a:lnTo>
                  <a:lnTo>
                    <a:pt x="119606" y="972074"/>
                  </a:lnTo>
                  <a:lnTo>
                    <a:pt x="80677" y="955637"/>
                  </a:lnTo>
                  <a:lnTo>
                    <a:pt x="47704" y="930148"/>
                  </a:lnTo>
                  <a:lnTo>
                    <a:pt x="22234" y="897165"/>
                  </a:lnTo>
                  <a:lnTo>
                    <a:pt x="5816" y="858249"/>
                  </a:lnTo>
                  <a:lnTo>
                    <a:pt x="0" y="814959"/>
                  </a:lnTo>
                  <a:lnTo>
                    <a:pt x="0" y="162940"/>
                  </a:lnTo>
                  <a:close/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84675" y="2028570"/>
            <a:ext cx="690816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solidFill>
                  <a:schemeClr val="bg1"/>
                </a:solidFill>
              </a:rPr>
              <a:t>AI-Driven Sustainable Energy Analytics and Renewable Energy Prediction Using Machine Learning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7" name="object 7" descr="A close up of a logo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1957" y="867676"/>
            <a:ext cx="1263154" cy="4108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9715" y="3521202"/>
            <a:ext cx="2199005" cy="172354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1850" dirty="0">
                <a:solidFill>
                  <a:srgbClr val="FFFFFF"/>
                </a:solidFill>
                <a:latin typeface="Arial MT"/>
                <a:cs typeface="Arial MT"/>
              </a:rPr>
              <a:t>Charmin Patel</a:t>
            </a:r>
            <a:endParaRPr sz="1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IN" sz="1850" dirty="0" err="1">
                <a:solidFill>
                  <a:srgbClr val="FFFFFF"/>
                </a:solidFill>
                <a:latin typeface="Arial MT"/>
                <a:cs typeface="Arial MT"/>
              </a:rPr>
              <a:t>Nikhilsingh</a:t>
            </a:r>
            <a:r>
              <a:rPr lang="en-IN" sz="1850" dirty="0">
                <a:solidFill>
                  <a:srgbClr val="FFFFFF"/>
                </a:solidFill>
                <a:latin typeface="Arial MT"/>
                <a:cs typeface="Arial MT"/>
              </a:rPr>
              <a:t> Rajput</a:t>
            </a:r>
            <a:endParaRPr sz="1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IN" sz="1850" dirty="0">
                <a:solidFill>
                  <a:srgbClr val="FFFFFF"/>
                </a:solidFill>
                <a:latin typeface="Arial MT"/>
                <a:cs typeface="Arial MT"/>
              </a:rPr>
              <a:t>Miten Patel</a:t>
            </a:r>
          </a:p>
          <a:p>
            <a:pPr marL="12700">
              <a:lnSpc>
                <a:spcPct val="100000"/>
              </a:lnSpc>
            </a:pPr>
            <a:r>
              <a:rPr lang="en-IN" sz="1850">
                <a:solidFill>
                  <a:srgbClr val="FFFFFF"/>
                </a:solidFill>
                <a:latin typeface="Arial MT"/>
                <a:cs typeface="Arial MT"/>
              </a:rPr>
              <a:t>Umang Parmar</a:t>
            </a:r>
            <a:endParaRPr sz="1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IN" sz="1850" dirty="0">
                <a:solidFill>
                  <a:srgbClr val="FFFFFF"/>
                </a:solidFill>
                <a:latin typeface="Arial MT"/>
                <a:cs typeface="Arial MT"/>
              </a:rPr>
              <a:t>Yash Parekh</a:t>
            </a:r>
            <a:endParaRPr sz="1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&lt;Team</a:t>
            </a:r>
            <a:r>
              <a:rPr sz="18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Member</a:t>
            </a:r>
            <a:r>
              <a:rPr sz="1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4&gt;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1400" y="4937252"/>
            <a:ext cx="4114800" cy="3231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2000" dirty="0">
                <a:solidFill>
                  <a:schemeClr val="bg1"/>
                </a:solidFill>
              </a:rPr>
              <a:t>Mentor:-Sagar Chouhan/Priya Shah</a:t>
            </a:r>
            <a:endParaRPr sz="185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9714" y="5505703"/>
            <a:ext cx="6133085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College Name</a:t>
            </a:r>
            <a:r>
              <a:rPr sz="18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1850" spc="-60" dirty="0">
                <a:solidFill>
                  <a:srgbClr val="FFFFFF"/>
                </a:solidFill>
                <a:latin typeface="Arial MT"/>
                <a:cs typeface="Arial MT"/>
              </a:rPr>
              <a:t>– </a:t>
            </a:r>
            <a:r>
              <a:rPr lang="en-IN" sz="1850" spc="-60" dirty="0" err="1">
                <a:solidFill>
                  <a:srgbClr val="FFFFFF"/>
                </a:solidFill>
                <a:latin typeface="Arial MT"/>
                <a:cs typeface="Arial MT"/>
              </a:rPr>
              <a:t>R.N.G.Patel</a:t>
            </a:r>
            <a:r>
              <a:rPr lang="en-IN" sz="1850" spc="-60" dirty="0">
                <a:solidFill>
                  <a:srgbClr val="FFFFFF"/>
                </a:solidFill>
                <a:latin typeface="Arial MT"/>
                <a:cs typeface="Arial MT"/>
              </a:rPr>
              <a:t> institute of technology </a:t>
            </a:r>
            <a:endParaRPr sz="1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53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1266" y="1124661"/>
            <a:ext cx="4602860" cy="46136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562" y="1744604"/>
            <a:ext cx="3850640" cy="295211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55"/>
              </a:spcBef>
              <a:buChar char="•"/>
              <a:tabLst>
                <a:tab pos="196215" algn="l"/>
              </a:tabLst>
            </a:pPr>
            <a:r>
              <a:rPr sz="1600" dirty="0">
                <a:latin typeface="Arial MT"/>
                <a:cs typeface="Arial MT"/>
              </a:rPr>
              <a:t>Problem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Statement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Overview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Introduction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5"/>
              </a:spcBef>
              <a:buChar char="•"/>
              <a:tabLst>
                <a:tab pos="196215" algn="l"/>
              </a:tabLst>
            </a:pPr>
            <a:r>
              <a:rPr sz="1600" dirty="0">
                <a:latin typeface="Arial MT"/>
                <a:cs typeface="Arial MT"/>
              </a:rPr>
              <a:t>End</a:t>
            </a:r>
            <a:r>
              <a:rPr sz="1600" spc="-10" dirty="0">
                <a:latin typeface="Arial MT"/>
                <a:cs typeface="Arial MT"/>
              </a:rPr>
              <a:t> Users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dirty="0">
                <a:latin typeface="Arial MT"/>
                <a:cs typeface="Arial MT"/>
              </a:rPr>
              <a:t>Wow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Factor 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Project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spc="-10" dirty="0">
                <a:latin typeface="Arial MT"/>
                <a:cs typeface="Arial MT"/>
              </a:rPr>
              <a:t>Modelling/Block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Diagram/Flow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Project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spc="-10" dirty="0">
                <a:latin typeface="Arial MT"/>
                <a:cs typeface="Arial MT"/>
              </a:rPr>
              <a:t>Result/outcomes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spc="-10" dirty="0">
                <a:latin typeface="Arial MT"/>
                <a:cs typeface="Arial MT"/>
              </a:rPr>
              <a:t>Conclusion</a:t>
            </a:r>
            <a:endParaRPr sz="1600">
              <a:latin typeface="Arial MT"/>
              <a:cs typeface="Arial MT"/>
            </a:endParaRPr>
          </a:p>
          <a:p>
            <a:pPr marL="196215" indent="-1835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sz="1600" dirty="0">
                <a:latin typeface="Arial MT"/>
                <a:cs typeface="Arial MT"/>
              </a:rPr>
              <a:t>Future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Perspective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" y="914400"/>
            <a:ext cx="6477000" cy="375486"/>
          </a:xfrm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</a:t>
            </a:r>
            <a:r>
              <a:rPr lang="en-IN" spc="-10" dirty="0"/>
              <a:t>t</a:t>
            </a:r>
            <a:endParaRPr b="0" spc="-1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763EE-627B-1A98-C437-016575B8D64A}"/>
              </a:ext>
            </a:extLst>
          </p:cNvPr>
          <p:cNvSpPr txBox="1"/>
          <p:nvPr/>
        </p:nvSpPr>
        <p:spPr>
          <a:xfrm>
            <a:off x="304801" y="1600200"/>
            <a:ext cx="11201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>
                <a:solidFill>
                  <a:schemeClr val="tx1"/>
                </a:solidFill>
              </a:rPr>
              <a:t>Renewable energy sources such as solar and wind are highly dependent on environmental conditions. Accurate prediction of energy generation is essential for efficient power management.</a:t>
            </a:r>
            <a:br>
              <a:rPr lang="en-IN" b="0" dirty="0">
                <a:solidFill>
                  <a:schemeClr val="tx1"/>
                </a:solidFill>
              </a:rPr>
            </a:br>
            <a:br>
              <a:rPr lang="en-IN" b="0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Challenges: 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Unpredictable weather conditions. 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Large amounts of historical energy data. 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Difficulty in accurate forecasting. 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Inefficient utilization of renewable resources. 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High dependency on fossil fuels due to inaccurate predictions. </a:t>
            </a:r>
          </a:p>
          <a:p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Proposed Solution</a:t>
            </a:r>
            <a:br>
              <a:rPr lang="en-IN" b="0" dirty="0">
                <a:solidFill>
                  <a:schemeClr val="tx1"/>
                </a:solidFill>
              </a:rPr>
            </a:br>
            <a:r>
              <a:rPr lang="en-IN" b="0" dirty="0">
                <a:solidFill>
                  <a:schemeClr val="tx1"/>
                </a:solidFill>
              </a:rPr>
              <a:t>- </a:t>
            </a:r>
            <a:r>
              <a:rPr lang="en-IN" b="0" dirty="0" err="1">
                <a:solidFill>
                  <a:schemeClr val="tx1"/>
                </a:solidFill>
              </a:rPr>
              <a:t>EcoAI</a:t>
            </a:r>
            <a:r>
              <a:rPr lang="en-IN" b="0" dirty="0">
                <a:solidFill>
                  <a:schemeClr val="tx1"/>
                </a:solidFill>
              </a:rPr>
              <a:t> uses Artificial Intelligence and Machine Learning algorithms to </a:t>
            </a:r>
            <a:r>
              <a:rPr lang="en-IN" b="0" dirty="0" err="1">
                <a:solidFill>
                  <a:schemeClr val="tx1"/>
                </a:solidFill>
              </a:rPr>
              <a:t>analyze</a:t>
            </a:r>
            <a:r>
              <a:rPr lang="en-IN" b="0" dirty="0">
                <a:solidFill>
                  <a:schemeClr val="tx1"/>
                </a:solidFill>
              </a:rPr>
              <a:t> historical energy datasets and generate accurate renewable energy predictions.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60" dirty="0"/>
              <a:t> </a:t>
            </a:r>
            <a:r>
              <a:rPr dirty="0"/>
              <a:t>Overview</a:t>
            </a:r>
            <a:r>
              <a:rPr spc="-2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D2074-DF65-BD71-4375-E21BA344DA51}"/>
              </a:ext>
            </a:extLst>
          </p:cNvPr>
          <p:cNvSpPr txBox="1"/>
          <p:nvPr/>
        </p:nvSpPr>
        <p:spPr>
          <a:xfrm>
            <a:off x="280822" y="1524000"/>
            <a:ext cx="11125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Introduction</a:t>
            </a:r>
          </a:p>
          <a:p>
            <a:r>
              <a:rPr lang="en-IN" dirty="0"/>
              <a:t>- </a:t>
            </a:r>
            <a:r>
              <a:rPr lang="en-IN" dirty="0" err="1"/>
              <a:t>EcoAI</a:t>
            </a:r>
            <a:r>
              <a:rPr lang="en-IN" dirty="0"/>
              <a:t> is an AI-powered renewable energy analytics system designed to predict future renewable energy generation using Machine Learning.</a:t>
            </a:r>
          </a:p>
          <a:p>
            <a:endParaRPr lang="en-IN" dirty="0"/>
          </a:p>
          <a:p>
            <a:r>
              <a:rPr lang="en-IN" b="1" dirty="0"/>
              <a:t>Project Workflow</a:t>
            </a:r>
          </a:p>
          <a:p>
            <a:r>
              <a:rPr lang="en-IN" dirty="0"/>
              <a:t>- Collect renewable energy dataset. </a:t>
            </a:r>
          </a:p>
          <a:p>
            <a:r>
              <a:rPr lang="en-IN" dirty="0"/>
              <a:t>- Clean and preprocess the data. </a:t>
            </a:r>
          </a:p>
          <a:p>
            <a:r>
              <a:rPr lang="en-IN" dirty="0"/>
              <a:t>- Perform Exploratory Data Analysis (EDA). </a:t>
            </a:r>
          </a:p>
          <a:p>
            <a:r>
              <a:rPr lang="en-IN" dirty="0"/>
              <a:t>- Train Machine Learning models. </a:t>
            </a:r>
          </a:p>
          <a:p>
            <a:r>
              <a:rPr lang="en-IN" dirty="0"/>
              <a:t>- Evaluate model performance. </a:t>
            </a:r>
          </a:p>
          <a:p>
            <a:r>
              <a:rPr lang="en-IN" dirty="0"/>
              <a:t>- Generate renewable energy predictions. </a:t>
            </a:r>
          </a:p>
          <a:p>
            <a:endParaRPr lang="en-IN" dirty="0"/>
          </a:p>
          <a:p>
            <a:r>
              <a:rPr lang="en-IN" b="1" dirty="0"/>
              <a:t>Benefits</a:t>
            </a:r>
          </a:p>
          <a:p>
            <a:r>
              <a:rPr lang="en-IN" dirty="0"/>
              <a:t>- Improves forecasting accuracy. </a:t>
            </a:r>
          </a:p>
          <a:p>
            <a:r>
              <a:rPr lang="en-IN" dirty="0"/>
              <a:t>- Helps optimize energy production. </a:t>
            </a:r>
          </a:p>
          <a:p>
            <a:r>
              <a:rPr lang="en-IN" dirty="0"/>
              <a:t>- Supports sustainable development. </a:t>
            </a:r>
          </a:p>
          <a:p>
            <a:r>
              <a:rPr lang="en-IN" dirty="0"/>
              <a:t>- Enables data-driven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End</a:t>
            </a:r>
            <a:r>
              <a:rPr spc="-50" dirty="0"/>
              <a:t> </a:t>
            </a:r>
            <a:r>
              <a:rPr spc="-10" dirty="0"/>
              <a:t>Users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0AA10-A9A1-FADA-098C-D7F7FE50A1D7}"/>
              </a:ext>
            </a:extLst>
          </p:cNvPr>
          <p:cNvSpPr txBox="1"/>
          <p:nvPr/>
        </p:nvSpPr>
        <p:spPr>
          <a:xfrm>
            <a:off x="280822" y="1447800"/>
            <a:ext cx="1083752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Users</a:t>
            </a:r>
          </a:p>
          <a:p>
            <a:r>
              <a:rPr lang="en-IN" dirty="0"/>
              <a:t>- </a:t>
            </a:r>
            <a:r>
              <a:rPr lang="en-IN" dirty="0" err="1"/>
              <a:t>EcoAI</a:t>
            </a:r>
            <a:r>
              <a:rPr lang="en-IN" dirty="0"/>
              <a:t> can be used by various organizations involved in renewable energy planning and management.</a:t>
            </a:r>
          </a:p>
          <a:p>
            <a:endParaRPr lang="en-IN" dirty="0"/>
          </a:p>
          <a:p>
            <a:r>
              <a:rPr lang="en-IN" b="1" dirty="0"/>
              <a:t>End Users</a:t>
            </a:r>
          </a:p>
          <a:p>
            <a:r>
              <a:rPr lang="en-IN" dirty="0"/>
              <a:t>- Renewable Energy Companies </a:t>
            </a:r>
          </a:p>
          <a:p>
            <a:r>
              <a:rPr lang="en-IN" dirty="0"/>
              <a:t>- Government Energy Departments </a:t>
            </a:r>
          </a:p>
          <a:p>
            <a:r>
              <a:rPr lang="en-IN" dirty="0"/>
              <a:t>- Smart Grid Operators </a:t>
            </a:r>
          </a:p>
          <a:p>
            <a:r>
              <a:rPr lang="en-IN" dirty="0"/>
              <a:t>- Environmental Researchers </a:t>
            </a:r>
          </a:p>
          <a:p>
            <a:r>
              <a:rPr lang="en-IN" dirty="0"/>
              <a:t>- Educational Institutions </a:t>
            </a:r>
          </a:p>
          <a:p>
            <a:r>
              <a:rPr lang="en-IN" dirty="0"/>
              <a:t>- Sustainability Organizations </a:t>
            </a:r>
          </a:p>
          <a:p>
            <a:r>
              <a:rPr lang="en-IN" dirty="0"/>
              <a:t>- Data Scientists and Researchers </a:t>
            </a:r>
          </a:p>
          <a:p>
            <a:r>
              <a:rPr lang="en-IN" dirty="0"/>
              <a:t>- Policy Makers </a:t>
            </a:r>
          </a:p>
          <a:p>
            <a:endParaRPr lang="en-IN" dirty="0"/>
          </a:p>
          <a:p>
            <a:r>
              <a:rPr lang="en-IN" b="1" dirty="0"/>
              <a:t>Benefits for Users</a:t>
            </a:r>
          </a:p>
          <a:p>
            <a:r>
              <a:rPr lang="en-IN" dirty="0"/>
              <a:t>- Better energy planning. </a:t>
            </a:r>
          </a:p>
          <a:p>
            <a:r>
              <a:rPr lang="en-IN" dirty="0"/>
              <a:t>- Cost reduction. </a:t>
            </a:r>
          </a:p>
          <a:p>
            <a:r>
              <a:rPr lang="en-IN" dirty="0"/>
              <a:t>- Improved resource utilization. </a:t>
            </a:r>
          </a:p>
          <a:p>
            <a:r>
              <a:rPr lang="en-IN" dirty="0"/>
              <a:t>- Environmental sustainability.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Wow</a:t>
            </a:r>
            <a:r>
              <a:rPr spc="-35" dirty="0"/>
              <a:t> </a:t>
            </a:r>
            <a:r>
              <a:rPr dirty="0"/>
              <a:t>Factors</a:t>
            </a:r>
            <a:r>
              <a:rPr spc="-3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2C02D-45DA-703E-20CE-43F489C56A2B}"/>
              </a:ext>
            </a:extLst>
          </p:cNvPr>
          <p:cNvSpPr txBox="1"/>
          <p:nvPr/>
        </p:nvSpPr>
        <p:spPr>
          <a:xfrm>
            <a:off x="381000" y="1524000"/>
            <a:ext cx="1021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Unique Features</a:t>
            </a:r>
          </a:p>
          <a:p>
            <a:endParaRPr lang="en-IN" b="1" dirty="0"/>
          </a:p>
          <a:p>
            <a:r>
              <a:rPr lang="en-IN" b="1" dirty="0"/>
              <a:t>AI-Based Prediction</a:t>
            </a:r>
          </a:p>
          <a:p>
            <a:r>
              <a:rPr lang="en-IN" dirty="0"/>
              <a:t>- Uses Machine Learning algorithms to predict renewable energy generation.</a:t>
            </a:r>
          </a:p>
          <a:p>
            <a:endParaRPr lang="en-IN" dirty="0"/>
          </a:p>
          <a:p>
            <a:r>
              <a:rPr lang="en-IN" b="1" dirty="0"/>
              <a:t>Data Visualization</a:t>
            </a:r>
          </a:p>
          <a:p>
            <a:r>
              <a:rPr lang="en-IN" dirty="0"/>
              <a:t>- Provides meaningful charts and graphs for better understanding.</a:t>
            </a:r>
          </a:p>
          <a:p>
            <a:endParaRPr lang="en-IN" dirty="0"/>
          </a:p>
          <a:p>
            <a:r>
              <a:rPr lang="en-IN" b="1" dirty="0"/>
              <a:t>Automated Data Processing</a:t>
            </a:r>
          </a:p>
          <a:p>
            <a:r>
              <a:rPr lang="en-IN" dirty="0"/>
              <a:t>- Performs preprocessing, feature selection, and prediction automatically.</a:t>
            </a:r>
          </a:p>
          <a:p>
            <a:endParaRPr lang="en-IN" dirty="0"/>
          </a:p>
          <a:p>
            <a:r>
              <a:rPr lang="en-IN" b="1" dirty="0"/>
              <a:t>Sustainable Development</a:t>
            </a:r>
          </a:p>
          <a:p>
            <a:r>
              <a:rPr lang="en-IN" dirty="0"/>
              <a:t>- Supports clean energy initiatives and SDGs.</a:t>
            </a:r>
          </a:p>
          <a:p>
            <a:endParaRPr lang="en-IN" dirty="0"/>
          </a:p>
          <a:p>
            <a:r>
              <a:rPr lang="en-IN" b="1" dirty="0"/>
              <a:t>Scalable Solution</a:t>
            </a:r>
          </a:p>
          <a:p>
            <a:r>
              <a:rPr lang="en-IN" dirty="0"/>
              <a:t>- Can be extended to real-time prediction systems.</a:t>
            </a:r>
          </a:p>
          <a:p>
            <a:endParaRPr lang="en-IN" dirty="0"/>
          </a:p>
          <a:p>
            <a:r>
              <a:rPr lang="en-IN" b="1" dirty="0"/>
              <a:t>Decision Support</a:t>
            </a:r>
          </a:p>
          <a:p>
            <a:r>
              <a:rPr lang="en-IN" dirty="0"/>
              <a:t>- Helps governments and industries make informed energy decisions.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Modelling/Block</a:t>
            </a:r>
            <a:r>
              <a:rPr spc="-55" dirty="0"/>
              <a:t> </a:t>
            </a:r>
            <a:r>
              <a:rPr dirty="0"/>
              <a:t>Diagram/Flow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0ABAF-4665-0F97-E724-0C34DC78C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7800"/>
            <a:ext cx="10515600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30B43-417F-891B-8E99-0440926ED614}"/>
              </a:ext>
            </a:extLst>
          </p:cNvPr>
          <p:cNvSpPr txBox="1"/>
          <p:nvPr/>
        </p:nvSpPr>
        <p:spPr>
          <a:xfrm>
            <a:off x="457200" y="1219200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Technology</a:t>
            </a:r>
            <a:r>
              <a:rPr lang="en-IN" sz="2000" b="1" spc="-70" dirty="0">
                <a:solidFill>
                  <a:schemeClr val="tx2"/>
                </a:solidFill>
              </a:rPr>
              <a:t> </a:t>
            </a:r>
            <a:r>
              <a:rPr lang="en-IN" sz="2000" b="1" spc="-10" dirty="0">
                <a:solidFill>
                  <a:schemeClr val="tx2"/>
                </a:solidFill>
              </a:rPr>
              <a:t>Stack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CDECE-AD81-7558-7FA6-7AE77612ECA0}"/>
              </a:ext>
            </a:extLst>
          </p:cNvPr>
          <p:cNvSpPr txBox="1"/>
          <p:nvPr/>
        </p:nvSpPr>
        <p:spPr>
          <a:xfrm flipH="1">
            <a:off x="6105832" y="2362200"/>
            <a:ext cx="4953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Machine Learning</a:t>
            </a:r>
          </a:p>
          <a:p>
            <a:r>
              <a:rPr lang="en-IN" dirty="0"/>
              <a:t>- Regression Algorithms </a:t>
            </a:r>
          </a:p>
          <a:p>
            <a:r>
              <a:rPr lang="en-IN" dirty="0"/>
              <a:t>- Model Evaluation Metrics </a:t>
            </a:r>
          </a:p>
          <a:p>
            <a:endParaRPr lang="en-IN" dirty="0"/>
          </a:p>
          <a:p>
            <a:r>
              <a:rPr lang="en-IN" b="1" dirty="0"/>
              <a:t>Visualization</a:t>
            </a:r>
          </a:p>
          <a:p>
            <a:r>
              <a:rPr lang="en-IN" dirty="0"/>
              <a:t>- Heatmaps </a:t>
            </a:r>
          </a:p>
          <a:p>
            <a:r>
              <a:rPr lang="en-IN" dirty="0"/>
              <a:t>- Histograms </a:t>
            </a:r>
          </a:p>
          <a:p>
            <a:r>
              <a:rPr lang="en-IN" dirty="0"/>
              <a:t>- Scatter Plots </a:t>
            </a:r>
          </a:p>
          <a:p>
            <a:r>
              <a:rPr lang="en-IN" dirty="0"/>
              <a:t>- Correlation Matrix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669AD-1496-F483-21BC-2C850ECD2BCD}"/>
              </a:ext>
            </a:extLst>
          </p:cNvPr>
          <p:cNvSpPr txBox="1"/>
          <p:nvPr/>
        </p:nvSpPr>
        <p:spPr>
          <a:xfrm>
            <a:off x="457200" y="1828800"/>
            <a:ext cx="457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Software Used</a:t>
            </a:r>
          </a:p>
          <a:p>
            <a:endParaRPr lang="en-IN" b="1" dirty="0"/>
          </a:p>
          <a:p>
            <a:r>
              <a:rPr lang="en-IN" b="1" dirty="0"/>
              <a:t>Programming Language</a:t>
            </a:r>
          </a:p>
          <a:p>
            <a:r>
              <a:rPr lang="en-IN" dirty="0"/>
              <a:t>- Python </a:t>
            </a:r>
          </a:p>
          <a:p>
            <a:endParaRPr lang="en-IN" dirty="0"/>
          </a:p>
          <a:p>
            <a:r>
              <a:rPr lang="en-IN" b="1" dirty="0"/>
              <a:t>Development Environment</a:t>
            </a:r>
          </a:p>
          <a:p>
            <a:r>
              <a:rPr lang="en-IN" dirty="0"/>
              <a:t>- Jupyter Notebook </a:t>
            </a:r>
          </a:p>
          <a:p>
            <a:endParaRPr lang="en-IN" dirty="0"/>
          </a:p>
          <a:p>
            <a:r>
              <a:rPr lang="en-IN" b="1" dirty="0"/>
              <a:t>Libraries</a:t>
            </a:r>
          </a:p>
          <a:p>
            <a:r>
              <a:rPr lang="en-IN" dirty="0"/>
              <a:t>- Pandas </a:t>
            </a:r>
          </a:p>
          <a:p>
            <a:r>
              <a:rPr lang="en-IN" dirty="0"/>
              <a:t>- NumPy </a:t>
            </a:r>
          </a:p>
          <a:p>
            <a:r>
              <a:rPr lang="en-IN" dirty="0"/>
              <a:t>- Matplotlib </a:t>
            </a:r>
          </a:p>
          <a:p>
            <a:r>
              <a:rPr lang="en-IN" dirty="0"/>
              <a:t>- Seaborn </a:t>
            </a:r>
          </a:p>
          <a:p>
            <a:r>
              <a:rPr lang="en-IN" dirty="0"/>
              <a:t>- Scikit-learn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26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Result/Outcomes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C84EA-2A81-615A-340B-69768B898A57}"/>
              </a:ext>
            </a:extLst>
          </p:cNvPr>
          <p:cNvSpPr txBox="1"/>
          <p:nvPr/>
        </p:nvSpPr>
        <p:spPr>
          <a:xfrm>
            <a:off x="457200" y="1752600"/>
            <a:ext cx="10134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Results</a:t>
            </a:r>
          </a:p>
          <a:p>
            <a:endParaRPr lang="en-IN" b="1" dirty="0"/>
          </a:p>
          <a:p>
            <a:r>
              <a:rPr lang="en-IN" b="1" dirty="0"/>
              <a:t>Achievements</a:t>
            </a:r>
          </a:p>
          <a:p>
            <a:r>
              <a:rPr lang="en-IN" dirty="0"/>
              <a:t>- Successfully loaded and </a:t>
            </a:r>
            <a:r>
              <a:rPr lang="en-IN" dirty="0" err="1"/>
              <a:t>preprocessed</a:t>
            </a:r>
            <a:r>
              <a:rPr lang="en-IN" dirty="0"/>
              <a:t> the dataset. </a:t>
            </a:r>
          </a:p>
          <a:p>
            <a:r>
              <a:rPr lang="en-IN" dirty="0"/>
              <a:t>- Performed Exploratory Data Analysis. </a:t>
            </a:r>
          </a:p>
          <a:p>
            <a:r>
              <a:rPr lang="en-IN" dirty="0"/>
              <a:t>- Trained Machine Learning prediction model. </a:t>
            </a:r>
          </a:p>
          <a:p>
            <a:r>
              <a:rPr lang="en-IN" dirty="0"/>
              <a:t>- Generated renewable energy predictions. </a:t>
            </a:r>
          </a:p>
          <a:p>
            <a:r>
              <a:rPr lang="en-IN" dirty="0"/>
              <a:t>- Evaluated model performance.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Outcomes</a:t>
            </a:r>
          </a:p>
          <a:p>
            <a:r>
              <a:rPr lang="en-IN" dirty="0"/>
              <a:t>- Improved prediction accuracy. </a:t>
            </a:r>
          </a:p>
          <a:p>
            <a:r>
              <a:rPr lang="en-IN" dirty="0"/>
              <a:t>- Better understanding of renewable energy trends. </a:t>
            </a:r>
          </a:p>
          <a:p>
            <a:r>
              <a:rPr lang="en-IN" dirty="0"/>
              <a:t>- Effective data visualization. </a:t>
            </a:r>
          </a:p>
          <a:p>
            <a:r>
              <a:rPr lang="en-IN" dirty="0"/>
              <a:t>- Reliable forecasting for sustainable planning.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E4AFE-C164-95D1-4380-26EA2E18D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38200"/>
            <a:ext cx="105918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3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EE626-1838-A569-72AB-257BAD35F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90600"/>
            <a:ext cx="929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5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B472EE-F515-1DBC-AA3D-F302BF067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11049000" cy="514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12FD9-A1F6-F9AE-C6B5-66993B0D777C}"/>
              </a:ext>
            </a:extLst>
          </p:cNvPr>
          <p:cNvSpPr txBox="1"/>
          <p:nvPr/>
        </p:nvSpPr>
        <p:spPr>
          <a:xfrm>
            <a:off x="457200" y="1981200"/>
            <a:ext cx="10820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Conclusion:</a:t>
            </a:r>
          </a:p>
          <a:p>
            <a:r>
              <a:rPr lang="en-IN" dirty="0"/>
              <a:t>- </a:t>
            </a:r>
            <a:r>
              <a:rPr lang="en-IN" dirty="0" err="1"/>
              <a:t>EcoAI</a:t>
            </a:r>
            <a:r>
              <a:rPr lang="en-IN" dirty="0"/>
              <a:t> demonstrates how Artificial Intelligence can significantly improve renewable energy forecasting                        through Machine Learning. </a:t>
            </a:r>
          </a:p>
          <a:p>
            <a:endParaRPr lang="en-IN" dirty="0"/>
          </a:p>
          <a:p>
            <a:r>
              <a:rPr lang="en-IN" b="1" dirty="0"/>
              <a:t>Key Highlights</a:t>
            </a:r>
          </a:p>
          <a:p>
            <a:r>
              <a:rPr lang="en-IN" dirty="0"/>
              <a:t>- AI improves prediction accuracy. </a:t>
            </a:r>
          </a:p>
          <a:p>
            <a:r>
              <a:rPr lang="en-IN" dirty="0"/>
              <a:t>- Supports efficient renewable energy utilization. </a:t>
            </a:r>
          </a:p>
          <a:p>
            <a:r>
              <a:rPr lang="en-IN" dirty="0"/>
              <a:t>- Helps reduce dependence on fossil fuels. </a:t>
            </a:r>
          </a:p>
          <a:p>
            <a:r>
              <a:rPr lang="en-IN" dirty="0"/>
              <a:t>- Encourages sustainable development. </a:t>
            </a:r>
          </a:p>
          <a:p>
            <a:r>
              <a:rPr lang="en-IN" dirty="0"/>
              <a:t>- Provides valuable insights through data analysis. </a:t>
            </a:r>
          </a:p>
          <a:p>
            <a:r>
              <a:rPr lang="en-IN" dirty="0"/>
              <a:t>- Supports informed decision-making for energy management.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D05C6-449A-C03C-A936-E32F0982BFD8}"/>
              </a:ext>
            </a:extLst>
          </p:cNvPr>
          <p:cNvSpPr txBox="1"/>
          <p:nvPr/>
        </p:nvSpPr>
        <p:spPr>
          <a:xfrm>
            <a:off x="457200" y="1752600"/>
            <a:ext cx="9220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- The project can be further enhanced by integrating modern technologies</a:t>
            </a:r>
          </a:p>
          <a:p>
            <a:r>
              <a:rPr lang="en-IN" dirty="0"/>
              <a:t>.</a:t>
            </a:r>
          </a:p>
          <a:p>
            <a:r>
              <a:rPr lang="en-IN" b="1" dirty="0"/>
              <a:t>Future Enhancements</a:t>
            </a:r>
          </a:p>
          <a:p>
            <a:r>
              <a:rPr lang="en-IN" dirty="0"/>
              <a:t>- Real-time weather API integration. </a:t>
            </a:r>
          </a:p>
          <a:p>
            <a:r>
              <a:rPr lang="en-IN" dirty="0"/>
              <a:t>- Deep Learning prediction models. </a:t>
            </a:r>
          </a:p>
          <a:p>
            <a:r>
              <a:rPr lang="en-IN" dirty="0"/>
              <a:t>- IoT-based renewable energy monitoring. </a:t>
            </a:r>
          </a:p>
          <a:p>
            <a:r>
              <a:rPr lang="en-IN" dirty="0"/>
              <a:t>- Cloud deployment. </a:t>
            </a:r>
          </a:p>
          <a:p>
            <a:r>
              <a:rPr lang="en-IN" dirty="0"/>
              <a:t>- Mobile and Web Dashboard. </a:t>
            </a:r>
          </a:p>
          <a:p>
            <a:r>
              <a:rPr lang="en-IN" dirty="0"/>
              <a:t>- Smart Grid integration. </a:t>
            </a:r>
          </a:p>
          <a:p>
            <a:r>
              <a:rPr lang="en-IN" dirty="0"/>
              <a:t>- AI-powered energy optimization. </a:t>
            </a:r>
          </a:p>
          <a:p>
            <a:r>
              <a:rPr lang="en-IN" dirty="0"/>
              <a:t>- Multi-source renewable energy forecasting. </a:t>
            </a:r>
          </a:p>
          <a:p>
            <a:r>
              <a:rPr lang="en-IN" dirty="0"/>
              <a:t>- Real-time visualization dashboard.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94453" y="2995117"/>
            <a:ext cx="32708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Thank</a:t>
            </a:r>
            <a:r>
              <a:rPr sz="5000" spc="-55" dirty="0"/>
              <a:t> </a:t>
            </a:r>
            <a:r>
              <a:rPr sz="5000" spc="-25" dirty="0"/>
              <a:t>You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278079" y="5562600"/>
            <a:ext cx="827117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203062"/>
                </a:solidFill>
                <a:latin typeface="Arial"/>
                <a:cs typeface="Arial"/>
              </a:rPr>
              <a:t>Video</a:t>
            </a:r>
            <a:r>
              <a:rPr sz="2800" b="1" spc="-9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3062"/>
                </a:solidFill>
                <a:latin typeface="Arial"/>
                <a:cs typeface="Arial"/>
              </a:rPr>
              <a:t>(google</a:t>
            </a:r>
            <a:r>
              <a:rPr sz="2800" b="1" spc="-75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3062"/>
                </a:solidFill>
                <a:latin typeface="Arial"/>
                <a:cs typeface="Arial"/>
              </a:rPr>
              <a:t>drive</a:t>
            </a:r>
            <a:r>
              <a:rPr sz="2800" b="1" spc="-8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03062"/>
                </a:solidFill>
                <a:latin typeface="Arial"/>
                <a:cs typeface="Arial"/>
              </a:rPr>
              <a:t>link)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B5162E4-2C07-A070-8BEA-7F086D0BD339}"/>
              </a:ext>
            </a:extLst>
          </p:cNvPr>
          <p:cNvSpPr txBox="1"/>
          <p:nvPr/>
        </p:nvSpPr>
        <p:spPr>
          <a:xfrm>
            <a:off x="278079" y="4323160"/>
            <a:ext cx="9169530" cy="89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 err="1">
                <a:solidFill>
                  <a:srgbClr val="203062"/>
                </a:solidFill>
                <a:latin typeface="Arial"/>
                <a:cs typeface="Arial"/>
              </a:rPr>
              <a:t>Github</a:t>
            </a:r>
            <a:r>
              <a:rPr sz="2800" b="1" spc="-8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03062"/>
                </a:solidFill>
                <a:latin typeface="Arial"/>
                <a:cs typeface="Arial"/>
              </a:rPr>
              <a:t>link</a:t>
            </a:r>
            <a:r>
              <a:rPr lang="en-IN" sz="2800" b="1" spc="-20" dirty="0">
                <a:solidFill>
                  <a:srgbClr val="203062"/>
                </a:solidFill>
                <a:latin typeface="Arial"/>
                <a:cs typeface="Arial"/>
              </a:rPr>
              <a:t>: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b="1" spc="-20" dirty="0">
                <a:solidFill>
                  <a:srgbClr val="203062"/>
                </a:solidFill>
                <a:latin typeface="Arial"/>
                <a:cs typeface="Arial"/>
              </a:rPr>
              <a:t>https://github.com/umang-parmar/Edunate_Project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679</Words>
  <Application>Microsoft Office PowerPoint</Application>
  <PresentationFormat>Widescreen</PresentationFormat>
  <Paragraphs>145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AI-Driven Sustainable Energy Analytics and Renewable Energy Prediction Using Machine Learning</vt:lpstr>
      <vt:lpstr>Project Objectives</vt:lpstr>
      <vt:lpstr>Problem Statement</vt:lpstr>
      <vt:lpstr>Project Overview - Introduction</vt:lpstr>
      <vt:lpstr>End Users</vt:lpstr>
      <vt:lpstr>Wow Factors in Project</vt:lpstr>
      <vt:lpstr>Modelling/Block Diagram/Flow of Project</vt:lpstr>
      <vt:lpstr>PowerPoint Presentation</vt:lpstr>
      <vt:lpstr>Result/Outcomes</vt:lpstr>
      <vt:lpstr>PowerPoint Presentation</vt:lpstr>
      <vt:lpstr>PowerPoint Presentation</vt:lpstr>
      <vt:lpstr>PowerPoint Presentation</vt:lpstr>
      <vt:lpstr>Conclusion</vt:lpstr>
      <vt:lpstr>Future Perspective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umang parmar</cp:lastModifiedBy>
  <cp:revision>5</cp:revision>
  <dcterms:created xsi:type="dcterms:W3CDTF">2026-07-15T14:14:21Z</dcterms:created>
  <dcterms:modified xsi:type="dcterms:W3CDTF">2026-07-16T04:08:27Z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2026-07-15T00:00:00Z</vt:filetime>
  </property>
  <property fmtid="{D5CDD505-2E9C-101B-9397-08002B2CF9AE}" pid="6" name="Producer">
    <vt:lpwstr>Microsoft® PowerPoint® 2021</vt:lpwstr>
  </property>
</Properties>
</file>